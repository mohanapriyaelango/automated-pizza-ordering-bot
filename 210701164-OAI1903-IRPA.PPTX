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80" r:id="rId2"/>
    <p:sldId id="366" r:id="rId3"/>
    <p:sldId id="380" r:id="rId4"/>
    <p:sldId id="383" r:id="rId5"/>
    <p:sldId id="384" r:id="rId6"/>
    <p:sldId id="385" r:id="rId7"/>
    <p:sldId id="386" r:id="rId8"/>
    <p:sldId id="387" r:id="rId9"/>
    <p:sldId id="388" r:id="rId10"/>
    <p:sldId id="389" r:id="rId11"/>
    <p:sldId id="390" r:id="rId12"/>
    <p:sldId id="391" r:id="rId13"/>
    <p:sldId id="401" r:id="rId14"/>
    <p:sldId id="392" r:id="rId15"/>
    <p:sldId id="393" r:id="rId16"/>
    <p:sldId id="394" r:id="rId17"/>
    <p:sldId id="395" r:id="rId18"/>
    <p:sldId id="397" r:id="rId19"/>
    <p:sldId id="399" r:id="rId20"/>
    <p:sldId id="28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varScale="1">
        <p:scale>
          <a:sx n="78" d="100"/>
          <a:sy n="78" d="100"/>
        </p:scale>
        <p:origin x="1709" y="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11/29/2023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hyperlink" Target="http://security.stackexchange.com/questions/1138/mysql-server-hardening" TargetMode="External"/><Relationship Id="rId4" Type="http://schemas.openxmlformats.org/officeDocument/2006/relationships/hyperlink" Target="https://virtualenv.pypa.io/en/latest/"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4322209" cy="1631216"/>
            </a:xfrm>
            <a:prstGeom prst="rect">
              <a:avLst/>
            </a:prstGeom>
            <a:noFill/>
          </p:spPr>
          <p:txBody>
            <a:bodyPr wrap="square" rtlCol="0">
              <a:spAutoFit/>
            </a:bodyPr>
            <a:lstStyle/>
            <a:p>
              <a:r>
                <a:rPr lang="en-US" sz="2000" b="1" dirty="0"/>
                <a:t>Register No. : 210701164</a:t>
              </a:r>
            </a:p>
            <a:p>
              <a:r>
                <a:rPr lang="en-US" sz="2000" b="1" dirty="0"/>
                <a:t>Name             : </a:t>
              </a:r>
              <a:r>
                <a:rPr lang="en-US" sz="2000" b="1" dirty="0" err="1"/>
                <a:t>Mohanapriya</a:t>
              </a:r>
              <a:r>
                <a:rPr lang="en-US" sz="2000" b="1" dirty="0"/>
                <a:t> E</a:t>
              </a:r>
            </a:p>
            <a:p>
              <a:r>
                <a:rPr lang="en-US" sz="2000" b="1" dirty="0"/>
                <a:t>Guide Name : </a:t>
              </a:r>
              <a:r>
                <a:rPr lang="en-US" sz="2000" b="1" dirty="0" err="1"/>
                <a:t>DuraiMurugan</a:t>
              </a:r>
              <a:r>
                <a:rPr lang="en-US" sz="2000" b="1" dirty="0"/>
                <a:t> N</a:t>
              </a:r>
            </a:p>
            <a:p>
              <a:r>
                <a:rPr lang="en-GB" sz="2000" b="1" dirty="0">
                  <a:solidFill>
                    <a:schemeClr val="dk1"/>
                  </a:solidFill>
                  <a:latin typeface="Calibri"/>
                  <a:cs typeface="Calibri"/>
                  <a:sym typeface="Calibri"/>
                </a:rPr>
                <a:t>Assistant Professor (SG), Department of Computer Science And Engineering</a:t>
              </a:r>
              <a:endParaRPr lang="en-GB" sz="2000"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610242" cy="2031325"/>
              </a:xfrm>
              <a:prstGeom prst="rect">
                <a:avLst/>
              </a:prstGeom>
              <a:noFill/>
            </p:spPr>
            <p:txBody>
              <a:bodyPr wrap="square" rtlCol="0">
                <a:spAutoFit/>
              </a:bodyPr>
              <a:lstStyle/>
              <a:p>
                <a:r>
                  <a:rPr lang="en-US" sz="4200" b="1" dirty="0">
                    <a:solidFill>
                      <a:schemeClr val="bg1"/>
                    </a:solidFill>
                    <a:ea typeface="Open Sans Bold" panose="020B0806030504020204" pitchFamily="34" charset="0"/>
                    <a:cs typeface="Open Sans Bold" panose="020B0806030504020204" pitchFamily="34" charset="0"/>
                  </a:rPr>
                  <a:t>Automated Pizza Ordering Bot With Voice Assistance</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r>
              <a:rPr lang="en-GB" dirty="0"/>
              <a:t>This project aims to develop an innovative solution to streamline the pizza ordering process through the integration of robotic process automation (RPA) and voice assistance technologies. The primary objectives include automating the steps involved in ordering pizza from a delivery website and incorporating voice assistance to enhance user interaction.</a:t>
            </a:r>
          </a:p>
          <a:p>
            <a:r>
              <a:rPr lang="en-GB" dirty="0"/>
              <a:t>The Automated Pizza Ordering Bot with Voice Assistance in UiPath represents a successful fusion of automation and voice technologies, offering a modern solution to streamline the pizza ordering experience. The project contributes to the evolution of RPA applications and provides a foundation for future innovations in human-machine interaction. </a:t>
            </a: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r>
              <a:rPr lang="en-GB" dirty="0"/>
              <a:t>Traditional online ordering processes may involve multiple steps, clicks, and form entries.</a:t>
            </a:r>
          </a:p>
          <a:p>
            <a:r>
              <a:rPr lang="en-GB" dirty="0"/>
              <a:t> The proposed system aims to streamline and automate these processes using UiPath, reducing the time and effort required for users to place an order.</a:t>
            </a:r>
          </a:p>
          <a:p>
            <a:r>
              <a:rPr lang="en-GB" dirty="0"/>
              <a:t>Introducing voice assistance adds a layer of natural language interaction, making the ordering process more intuitive and user-friendly. This caters to a broader audience, including those who may not be as comfortable with traditional interfaces or those with accessibility needs.</a:t>
            </a: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r>
              <a:rPr lang="en-GB" dirty="0"/>
              <a:t> The proposed system offers advantages such as efficiency, enhanced user experience, accessibility, personalization, innovation, adaptability, and a competitive edge in the online food ordering market.</a:t>
            </a:r>
          </a:p>
          <a:p>
            <a:r>
              <a:rPr lang="en-GB" dirty="0"/>
              <a:t>Automation can lead to cost savings for businesses by reducing manual </a:t>
            </a:r>
            <a:r>
              <a:rPr lang="en-GB" dirty="0" err="1"/>
              <a:t>labor</a:t>
            </a:r>
            <a:r>
              <a:rPr lang="en-GB" dirty="0"/>
              <a:t> and potential errors in the ordering process. This efficiency can contribute to overall operational cost reductions.</a:t>
            </a:r>
          </a:p>
          <a:p>
            <a:r>
              <a:rPr lang="en-GB" dirty="0"/>
              <a:t>The integration of UiPath automation and voice assistance represents an innovative solution in the online food ordering domain.</a:t>
            </a: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lstStyle/>
          <a:p>
            <a:r>
              <a:rPr lang="en-GB" dirty="0"/>
              <a:t>The literature surrounding the integration of UiPath automation, voice assistance, and user interaction in the context of an Automated Pizza Ordering Bot reveals a dynamic landscape of innovation and technological convergence. </a:t>
            </a:r>
          </a:p>
          <a:p>
            <a:r>
              <a:rPr lang="en-GB" dirty="0"/>
              <a:t>Studies on Robotic Process Automation (RPA) emphasize the transformative impact of tools like UiPath in streamlining intricate workflows across various industries.</a:t>
            </a:r>
          </a:p>
          <a:p>
            <a:r>
              <a:rPr lang="en-GB" dirty="0"/>
              <a:t>The literature survey should provide a comprehensive understanding of the existing knowledge landscape, help identify gaps that the proposed system aims to fill, and support the rationale behind the integration of UiPath automation and voice assistance technologies in the context of pizza ordering.</a:t>
            </a:r>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r>
              <a:rPr lang="en-GB" dirty="0"/>
              <a:t>The main objective is to create a highly efficient, user-friendly, and innovative system that leverages automation and voice assistance technologies to transform the pizza ordering experience, ultimately redefining the landscape of user-centric automation applications in the online food ordering domain.</a:t>
            </a:r>
          </a:p>
          <a:p>
            <a:r>
              <a:rPr lang="en-GB" dirty="0"/>
              <a:t>Enable users to interact with the bot using natural language voice commands, transcending conventional user interfaces and enhancing accessibility.</a:t>
            </a: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descr="Refactored BPMN business process diagram “ Ordering and delivering... |  Download Scientific Diagram">
            <a:extLst>
              <a:ext uri="{FF2B5EF4-FFF2-40B4-BE49-F238E27FC236}">
                <a16:creationId xmlns:a16="http://schemas.microsoft.com/office/drawing/2014/main" id="{8EC736A9-6EB2-224E-1D3C-065A0BAB945F}"/>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403648" y="990600"/>
            <a:ext cx="6408712" cy="5334000"/>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r>
              <a:rPr lang="en-US" dirty="0"/>
              <a:t>Hardware</a:t>
            </a:r>
          </a:p>
          <a:p>
            <a:pPr marL="800100" lvl="1" indent="-342900">
              <a:spcBef>
                <a:spcPts val="0"/>
              </a:spcBef>
              <a:buSzPts val="2400"/>
              <a:buFont typeface="Noto Sans Symbols"/>
              <a:buChar char="▪"/>
            </a:pPr>
            <a:r>
              <a:rPr lang="en-US" dirty="0"/>
              <a:t>Processor – Intel Core i3</a:t>
            </a:r>
          </a:p>
          <a:p>
            <a:pPr marL="800100" lvl="1" indent="-342900">
              <a:spcBef>
                <a:spcPts val="0"/>
              </a:spcBef>
              <a:buSzPts val="2400"/>
              <a:buFont typeface="Noto Sans Symbols"/>
              <a:buChar char="▪"/>
            </a:pPr>
            <a:r>
              <a:rPr lang="en-US" dirty="0"/>
              <a:t>RAM – 4 GB RAM</a:t>
            </a:r>
          </a:p>
          <a:p>
            <a:pPr marL="800100" lvl="1" indent="-342900">
              <a:spcBef>
                <a:spcPts val="0"/>
              </a:spcBef>
              <a:buSzPts val="2400"/>
              <a:buFont typeface="Noto Sans Symbols"/>
              <a:buChar char="▪"/>
            </a:pPr>
            <a:r>
              <a:rPr lang="en-US" dirty="0"/>
              <a:t>Hard Disk – 256 GB</a:t>
            </a:r>
          </a:p>
          <a:p>
            <a:r>
              <a:rPr lang="en-US" dirty="0"/>
              <a:t>Software</a:t>
            </a:r>
          </a:p>
          <a:p>
            <a:pPr marL="800100" lvl="1" indent="-342900">
              <a:spcBef>
                <a:spcPts val="0"/>
              </a:spcBef>
              <a:buSzPts val="2400"/>
              <a:buFont typeface="Noto Sans Symbols"/>
              <a:buChar char="▪"/>
            </a:pPr>
            <a:r>
              <a:rPr lang="en-US" dirty="0"/>
              <a:t>UiPath Studio</a:t>
            </a:r>
          </a:p>
          <a:p>
            <a:pPr marL="800100" lvl="1" indent="-342900">
              <a:spcBef>
                <a:spcPts val="0"/>
              </a:spcBef>
              <a:buSzPts val="2400"/>
              <a:buFont typeface="Noto Sans Symbols"/>
              <a:buChar char="▪"/>
            </a:pPr>
            <a:r>
              <a:rPr lang="en-US" dirty="0" err="1"/>
              <a:t>Xampp</a:t>
            </a:r>
            <a:endParaRPr lang="en-US" dirty="0"/>
          </a:p>
          <a:p>
            <a:pPr marL="800100" lvl="1" indent="-342900">
              <a:spcBef>
                <a:spcPts val="0"/>
              </a:spcBef>
              <a:buSzPts val="2400"/>
              <a:buFont typeface="Noto Sans Symbols"/>
              <a:buChar char="▪"/>
            </a:pPr>
            <a:endParaRPr lang="en-US" dirty="0"/>
          </a:p>
          <a:p>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a:bodyPr>
          <a:lstStyle/>
          <a:p>
            <a:r>
              <a:rPr lang="en-GB" dirty="0"/>
              <a:t>Users can access the pizza ordering system through a user-friendly web interface.</a:t>
            </a:r>
          </a:p>
          <a:p>
            <a:r>
              <a:rPr lang="en-GB" dirty="0"/>
              <a:t>The interface displays available pizza options, customization choices, and order summary.</a:t>
            </a:r>
          </a:p>
          <a:p>
            <a:r>
              <a:rPr lang="en-GB" dirty="0"/>
              <a:t>This functional description provides an overview of the key features and capabilities of the Automated Pizza Ordering Bot with Voice Assistance in UiPath. It emphasizes the seamless integration of UiPath automation and voice assistance technologies to redefine the user experience in the domain of online food ordering.</a:t>
            </a:r>
            <a:endParaRPr lang="en-US" dirty="0"/>
          </a:p>
          <a:p>
            <a:endParaRPr lang="en-US" dirty="0"/>
          </a:p>
          <a:p>
            <a:endParaRPr lang="en-US" dirty="0"/>
          </a:p>
          <a:p>
            <a:endParaRPr lang="en-US"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3" name="Content Placeholder 2"/>
          <p:cNvSpPr>
            <a:spLocks noGrp="1"/>
          </p:cNvSpPr>
          <p:nvPr>
            <p:ph idx="1"/>
          </p:nvPr>
        </p:nvSpPr>
        <p:spPr/>
        <p:txBody>
          <a:bodyPr/>
          <a:lstStyle/>
          <a:p>
            <a:r>
              <a:rPr lang="en-US" dirty="0"/>
              <a:t>ERD</a:t>
            </a:r>
          </a:p>
        </p:txBody>
      </p:sp>
      <p:pic>
        <p:nvPicPr>
          <p:cNvPr id="5" name="Picture 4">
            <a:extLst>
              <a:ext uri="{FF2B5EF4-FFF2-40B4-BE49-F238E27FC236}">
                <a16:creationId xmlns:a16="http://schemas.microsoft.com/office/drawing/2014/main" id="{5F704BAE-D214-15B3-BD03-F135D9B0F8E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59732" y="927282"/>
            <a:ext cx="5274541" cy="5520755"/>
          </a:xfrm>
          <a:prstGeom prst="rect">
            <a:avLst/>
          </a:prstGeom>
          <a:noFill/>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lstStyle/>
          <a:p>
            <a:r>
              <a:rPr lang="en-US" dirty="0"/>
              <a:t>Main Process</a:t>
            </a:r>
          </a:p>
          <a:p>
            <a:endParaRPr lang="en-US" dirty="0"/>
          </a:p>
        </p:txBody>
      </p:sp>
      <p:pic>
        <p:nvPicPr>
          <p:cNvPr id="5" name="Picture 4">
            <a:extLst>
              <a:ext uri="{FF2B5EF4-FFF2-40B4-BE49-F238E27FC236}">
                <a16:creationId xmlns:a16="http://schemas.microsoft.com/office/drawing/2014/main" id="{571692B4-BFCE-A26A-9917-D6FE55BB68A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72780" y="990600"/>
            <a:ext cx="6480720" cy="5236210"/>
          </a:xfrm>
          <a:prstGeom prst="rect">
            <a:avLst/>
          </a:prstGeom>
          <a:noFill/>
        </p:spPr>
      </p:pic>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lstStyle/>
          <a:p>
            <a:r>
              <a:rPr lang="en-US" dirty="0"/>
              <a:t>Implementation of Module 1</a:t>
            </a:r>
          </a:p>
          <a:p>
            <a:pPr lvl="1"/>
            <a:r>
              <a:rPr lang="en-IN" dirty="0"/>
              <a:t>The Bot is set to take the project name as an input from the user and, then open the browser and create a project using the respective command.</a:t>
            </a:r>
            <a:endParaRPr lang="en-US" dirty="0"/>
          </a:p>
          <a:p>
            <a:endParaRPr lang="en-US" dirty="0"/>
          </a:p>
          <a:p>
            <a:endParaRPr lang="en-US" dirty="0"/>
          </a:p>
        </p:txBody>
      </p:sp>
      <p:pic>
        <p:nvPicPr>
          <p:cNvPr id="4" name="Picture 3">
            <a:extLst>
              <a:ext uri="{FF2B5EF4-FFF2-40B4-BE49-F238E27FC236}">
                <a16:creationId xmlns:a16="http://schemas.microsoft.com/office/drawing/2014/main" id="{AFC78EE8-C3C9-BC19-4A5D-2EF204E3BC80}"/>
              </a:ext>
            </a:extLst>
          </p:cNvPr>
          <p:cNvPicPr>
            <a:picLocks noChangeAspect="1"/>
          </p:cNvPicPr>
          <p:nvPr/>
        </p:nvPicPr>
        <p:blipFill>
          <a:blip r:embed="rId4"/>
          <a:stretch>
            <a:fillRect/>
          </a:stretch>
        </p:blipFill>
        <p:spPr>
          <a:xfrm>
            <a:off x="719572" y="2384884"/>
            <a:ext cx="7200800" cy="3744416"/>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D3EC0-8380-70FE-93BC-5DB67833D80E}"/>
              </a:ext>
            </a:extLst>
          </p:cNvPr>
          <p:cNvSpPr>
            <a:spLocks noGrp="1"/>
          </p:cNvSpPr>
          <p:nvPr>
            <p:ph type="title"/>
          </p:nvPr>
        </p:nvSpPr>
        <p:spPr/>
        <p:txBody>
          <a:bodyPr/>
          <a:lstStyle/>
          <a:p>
            <a:r>
              <a:rPr lang="en-GB" dirty="0"/>
              <a:t>Implementation</a:t>
            </a:r>
            <a:endParaRPr lang="en-IN" dirty="0"/>
          </a:p>
        </p:txBody>
      </p:sp>
      <p:sp>
        <p:nvSpPr>
          <p:cNvPr id="3" name="Content Placeholder 2">
            <a:extLst>
              <a:ext uri="{FF2B5EF4-FFF2-40B4-BE49-F238E27FC236}">
                <a16:creationId xmlns:a16="http://schemas.microsoft.com/office/drawing/2014/main" id="{3D628F76-7E0C-D98B-958A-DAE4BC70E7AA}"/>
              </a:ext>
            </a:extLst>
          </p:cNvPr>
          <p:cNvSpPr>
            <a:spLocks noGrp="1"/>
          </p:cNvSpPr>
          <p:nvPr>
            <p:ph idx="1"/>
          </p:nvPr>
        </p:nvSpPr>
        <p:spPr/>
        <p:txBody>
          <a:bodyPr/>
          <a:lstStyle/>
          <a:p>
            <a:r>
              <a:rPr lang="en-US" dirty="0"/>
              <a:t>Implementation Of Module 2</a:t>
            </a:r>
          </a:p>
          <a:p>
            <a:pPr lvl="1"/>
            <a:r>
              <a:rPr lang="en-IN" dirty="0"/>
              <a:t> After creating a project, the user can create multiple apps inside it and along with it, all the files will be simultaneously updated that needs to be changed.</a:t>
            </a:r>
          </a:p>
          <a:p>
            <a:pPr lvl="1"/>
            <a:endParaRPr lang="en-US" dirty="0"/>
          </a:p>
        </p:txBody>
      </p:sp>
      <p:pic>
        <p:nvPicPr>
          <p:cNvPr id="4" name="Picture 3">
            <a:extLst>
              <a:ext uri="{FF2B5EF4-FFF2-40B4-BE49-F238E27FC236}">
                <a16:creationId xmlns:a16="http://schemas.microsoft.com/office/drawing/2014/main" id="{AD53CAD9-583C-283F-CB33-2BD16F564FA0}"/>
              </a:ext>
            </a:extLst>
          </p:cNvPr>
          <p:cNvPicPr>
            <a:picLocks noChangeAspect="1"/>
          </p:cNvPicPr>
          <p:nvPr/>
        </p:nvPicPr>
        <p:blipFill>
          <a:blip r:embed="rId2"/>
          <a:stretch>
            <a:fillRect/>
          </a:stretch>
        </p:blipFill>
        <p:spPr>
          <a:xfrm>
            <a:off x="1007604" y="2852937"/>
            <a:ext cx="6912768" cy="3012720"/>
          </a:xfrm>
          <a:prstGeom prst="rect">
            <a:avLst/>
          </a:prstGeom>
        </p:spPr>
      </p:pic>
    </p:spTree>
    <p:extLst>
      <p:ext uri="{BB962C8B-B14F-4D97-AF65-F5344CB8AC3E}">
        <p14:creationId xmlns:p14="http://schemas.microsoft.com/office/powerpoint/2010/main" val="409633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r>
              <a:rPr lang="en-GB" dirty="0"/>
              <a:t>Conducting a thorough testing process, including both automated and manual testing, is essential to identify and rectify any issues before the system is deployed to production.</a:t>
            </a:r>
            <a:endParaRPr lang="en-US" dirty="0"/>
          </a:p>
          <a:p>
            <a:endParaRPr lang="en-US" dirty="0"/>
          </a:p>
          <a:p>
            <a:endParaRPr lang="en-US" dirty="0"/>
          </a:p>
        </p:txBody>
      </p:sp>
      <p:pic>
        <p:nvPicPr>
          <p:cNvPr id="4" name="Picture 3">
            <a:extLst>
              <a:ext uri="{FF2B5EF4-FFF2-40B4-BE49-F238E27FC236}">
                <a16:creationId xmlns:a16="http://schemas.microsoft.com/office/drawing/2014/main" id="{181FD285-A24C-FB6D-0FD6-7180FBD17847}"/>
              </a:ext>
            </a:extLst>
          </p:cNvPr>
          <p:cNvPicPr>
            <a:picLocks noChangeAspect="1"/>
          </p:cNvPicPr>
          <p:nvPr/>
        </p:nvPicPr>
        <p:blipFill>
          <a:blip r:embed="rId4"/>
          <a:stretch>
            <a:fillRect/>
          </a:stretch>
        </p:blipFill>
        <p:spPr>
          <a:xfrm>
            <a:off x="3959932" y="2626512"/>
            <a:ext cx="4860540" cy="3041816"/>
          </a:xfrm>
          <a:prstGeom prst="rect">
            <a:avLst/>
          </a:prstGeom>
        </p:spPr>
      </p:pic>
      <p:pic>
        <p:nvPicPr>
          <p:cNvPr id="5" name="Picture 4">
            <a:extLst>
              <a:ext uri="{FF2B5EF4-FFF2-40B4-BE49-F238E27FC236}">
                <a16:creationId xmlns:a16="http://schemas.microsoft.com/office/drawing/2014/main" id="{FFF403AF-627C-0D7E-E07B-A32D5DC12309}"/>
              </a:ext>
            </a:extLst>
          </p:cNvPr>
          <p:cNvPicPr>
            <a:picLocks noChangeAspect="1"/>
          </p:cNvPicPr>
          <p:nvPr/>
        </p:nvPicPr>
        <p:blipFill>
          <a:blip r:embed="rId5"/>
          <a:stretch>
            <a:fillRect/>
          </a:stretch>
        </p:blipFill>
        <p:spPr>
          <a:xfrm>
            <a:off x="575556" y="2625462"/>
            <a:ext cx="2842260" cy="2903220"/>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r>
              <a:rPr lang="en-GB" dirty="0"/>
              <a:t>In conclusion, the development of the Automated Pizza Ordering Bot with Voice Assistance in UiPath represents a transformative leap in enhancing user experiences within the realm of online food ordering. By seamlessly integrating UiPath's powerful automation capabilities with sophisticated voice recognition technology, this innovative application redefines the pizza ordering process. The meticulous planning, encompassing the definition of project scope, research, and iterative design, has resulted in a user-centric interface that streamlines the complexities of pizza customization and ordering.</a:t>
            </a:r>
            <a:endParaRPr lang="en-US" dirty="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r>
              <a:rPr lang="en-GB" b="1" dirty="0"/>
              <a:t>Enhanced Voice Commands</a:t>
            </a:r>
            <a:r>
              <a:rPr lang="en-GB" dirty="0"/>
              <a:t>: Improve the system's understanding of natural language voice commands through advancements in NLP. This can involve incorporating machine learning models to better interpret user intent and context.</a:t>
            </a:r>
            <a:endParaRPr lang="en-US" dirty="0"/>
          </a:p>
          <a:p>
            <a:r>
              <a:rPr lang="en-GB" b="1" dirty="0"/>
              <a:t>Extend to Mobile Applications</a:t>
            </a:r>
            <a:r>
              <a:rPr lang="en-GB" dirty="0"/>
              <a:t>: Develop mobile applications to expand the accessibility of the system, allowing users to place orders and interact with the bot using their smartphones.</a:t>
            </a:r>
            <a:endParaRPr lang="en-US" dirty="0"/>
          </a:p>
          <a:p>
            <a:r>
              <a:rPr lang="en-GB" b="1" dirty="0"/>
              <a:t>Chatbot for Customer Support</a:t>
            </a:r>
            <a:r>
              <a:rPr lang="en-GB" dirty="0"/>
              <a:t>: Implement a chatbot for customer support to assist users in real-time, answering queries, providing order updates, and addressing common concerns.</a:t>
            </a:r>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marL="342900" marR="1943735" lvl="0" indent="-342900">
              <a:lnSpc>
                <a:spcPct val="150000"/>
              </a:lnSpc>
              <a:spcBef>
                <a:spcPts val="1360"/>
              </a:spcBef>
              <a:spcAft>
                <a:spcPts val="0"/>
              </a:spcAft>
              <a:buSzPts val="1400"/>
              <a:buFont typeface="Times New Roman" panose="02020603050405020304" pitchFamily="18" charset="0"/>
              <a:buAutoNum type="arabicPeriod"/>
              <a:tabLst>
                <a:tab pos="559435" algn="l"/>
              </a:tabLst>
            </a:pPr>
            <a:r>
              <a:rPr lang="en-US" sz="1800" spc="0" dirty="0" err="1">
                <a:effectLst/>
                <a:latin typeface="Times New Roman" panose="02020603050405020304" pitchFamily="18" charset="0"/>
                <a:ea typeface="Times New Roman" panose="02020603050405020304" pitchFamily="18" charset="0"/>
              </a:rPr>
              <a:t>Bicking</a:t>
            </a:r>
            <a:r>
              <a:rPr lang="en-US" sz="1800" spc="0" dirty="0">
                <a:effectLst/>
                <a:latin typeface="Times New Roman" panose="02020603050405020304" pitchFamily="18" charset="0"/>
                <a:ea typeface="Times New Roman" panose="02020603050405020304" pitchFamily="18" charset="0"/>
              </a:rPr>
              <a:t>, I. 2014. </a:t>
            </a:r>
            <a:r>
              <a:rPr lang="en-US" sz="1800" spc="0" dirty="0" err="1">
                <a:effectLst/>
                <a:latin typeface="Times New Roman" panose="02020603050405020304" pitchFamily="18" charset="0"/>
                <a:ea typeface="Times New Roman" panose="02020603050405020304" pitchFamily="18" charset="0"/>
              </a:rPr>
              <a:t>Virtualenv</a:t>
            </a:r>
            <a:r>
              <a:rPr lang="en-US" sz="1800" spc="0" dirty="0">
                <a:effectLst/>
                <a:latin typeface="Times New Roman" panose="02020603050405020304" pitchFamily="18" charset="0"/>
                <a:ea typeface="Times New Roman" panose="02020603050405020304" pitchFamily="18" charset="0"/>
              </a:rPr>
              <a:t>. Consulted 01.08.2016</a:t>
            </a:r>
            <a:r>
              <a:rPr lang="en-US" sz="1800" spc="-335" dirty="0">
                <a:effectLst/>
                <a:latin typeface="Times New Roman" panose="02020603050405020304" pitchFamily="18" charset="0"/>
                <a:ea typeface="Times New Roman" panose="02020603050405020304" pitchFamily="18" charset="0"/>
              </a:rPr>
              <a:t> </a:t>
            </a:r>
            <a:r>
              <a:rPr lang="en-US" sz="1800" u="none" strike="noStrike" spc="0" dirty="0">
                <a:solidFill>
                  <a:srgbClr val="0000FF"/>
                </a:solidFill>
                <a:effectLst/>
                <a:latin typeface="Times New Roman" panose="02020603050405020304" pitchFamily="18" charset="0"/>
                <a:ea typeface="Times New Roman" panose="02020603050405020304" pitchFamily="18" charset="0"/>
                <a:hlinkClick r:id="rId4"/>
              </a:rPr>
              <a:t>https://virtualenv.pypa.io/en/latest/</a:t>
            </a:r>
            <a:endParaRPr lang="en-IN" sz="1800" spc="0" dirty="0">
              <a:effectLst/>
              <a:latin typeface="Times New Roman" panose="02020603050405020304" pitchFamily="18" charset="0"/>
              <a:ea typeface="Times New Roman" panose="02020603050405020304" pitchFamily="18" charset="0"/>
            </a:endParaRPr>
          </a:p>
          <a:p>
            <a:pPr marL="342900" marR="1019175" lvl="0" indent="-342900">
              <a:lnSpc>
                <a:spcPct val="150000"/>
              </a:lnSpc>
              <a:buSzPts val="1400"/>
              <a:buFont typeface="Times New Roman" panose="02020603050405020304" pitchFamily="18" charset="0"/>
              <a:buAutoNum type="arabicPeriod"/>
              <a:tabLst>
                <a:tab pos="559435" algn="l"/>
              </a:tabLst>
            </a:pPr>
            <a:r>
              <a:rPr lang="en-US" sz="1800" spc="0" dirty="0">
                <a:effectLst/>
                <a:latin typeface="Times New Roman" panose="02020603050405020304" pitchFamily="18" charset="0"/>
                <a:ea typeface="Times New Roman" panose="02020603050405020304" pitchFamily="18" charset="0"/>
              </a:rPr>
              <a:t>Davidson, M. 2010. MySQL Server Hardening</a:t>
            </a:r>
            <a:r>
              <a:rPr lang="en-US" sz="1800" spc="5" dirty="0">
                <a:effectLst/>
                <a:latin typeface="Times New Roman" panose="02020603050405020304" pitchFamily="18" charset="0"/>
                <a:ea typeface="Times New Roman" panose="02020603050405020304" pitchFamily="18" charset="0"/>
              </a:rPr>
              <a:t> </a:t>
            </a:r>
            <a:r>
              <a:rPr lang="en-US" sz="1800" u="none" strike="noStrike" spc="-5" dirty="0">
                <a:solidFill>
                  <a:srgbClr val="0000FF"/>
                </a:solidFill>
                <a:effectLst/>
                <a:latin typeface="Times New Roman" panose="02020603050405020304" pitchFamily="18" charset="0"/>
                <a:ea typeface="Times New Roman" panose="02020603050405020304" pitchFamily="18" charset="0"/>
                <a:hlinkClick r:id="rId5"/>
              </a:rPr>
              <a:t>http://security.stackexchange.com/questions/1138/mysql-server-</a:t>
            </a:r>
            <a:r>
              <a:rPr lang="en-US" sz="1800" spc="0" dirty="0">
                <a:effectLst/>
                <a:latin typeface="Times New Roman" panose="02020603050405020304" pitchFamily="18" charset="0"/>
                <a:ea typeface="Times New Roman" panose="02020603050405020304" pitchFamily="18" charset="0"/>
              </a:rPr>
              <a:t> </a:t>
            </a:r>
            <a:r>
              <a:rPr lang="en-US" sz="1800" u="none" strike="noStrike" spc="0" dirty="0">
                <a:solidFill>
                  <a:srgbClr val="0000FF"/>
                </a:solidFill>
                <a:effectLst/>
                <a:latin typeface="Times New Roman" panose="02020603050405020304" pitchFamily="18" charset="0"/>
                <a:ea typeface="Times New Roman" panose="02020603050405020304" pitchFamily="18" charset="0"/>
                <a:hlinkClick r:id="rId5"/>
              </a:rPr>
              <a:t>hardening</a:t>
            </a:r>
            <a:endParaRPr lang="en-IN" sz="1800" spc="0" dirty="0">
              <a:effectLst/>
              <a:latin typeface="Times New Roman" panose="02020603050405020304" pitchFamily="18" charset="0"/>
              <a:ea typeface="Times New Roman" panose="02020603050405020304" pitchFamily="18" charset="0"/>
            </a:endParaRPr>
          </a:p>
          <a:p>
            <a:pPr marL="342900" marR="1226185" lvl="0" indent="-342900">
              <a:lnSpc>
                <a:spcPct val="150000"/>
              </a:lnSpc>
              <a:buSzPts val="1400"/>
              <a:buFont typeface="Times New Roman" panose="02020603050405020304" pitchFamily="18" charset="0"/>
              <a:buAutoNum type="arabicPeriod"/>
              <a:tabLst>
                <a:tab pos="559435" algn="l"/>
              </a:tabLst>
            </a:pPr>
            <a:r>
              <a:rPr lang="en-US" sz="1800" spc="0" dirty="0">
                <a:effectLst/>
                <a:latin typeface="Times New Roman" panose="02020603050405020304" pitchFamily="18" charset="0"/>
                <a:ea typeface="Times New Roman" panose="02020603050405020304" pitchFamily="18" charset="0"/>
              </a:rPr>
              <a:t>"Mastering UiPath" by Alok Mani Tripathi: This book covers advanced UiPath concepts and best practices.</a:t>
            </a:r>
            <a:endParaRPr lang="en-IN" sz="1800" spc="0" dirty="0">
              <a:effectLst/>
              <a:latin typeface="Times New Roman" panose="02020603050405020304" pitchFamily="18" charset="0"/>
              <a:ea typeface="Times New Roman" panose="02020603050405020304" pitchFamily="18" charset="0"/>
            </a:endParaRPr>
          </a:p>
          <a:p>
            <a:pPr marL="342900" marR="1226185" lvl="0" indent="-342900">
              <a:lnSpc>
                <a:spcPct val="150000"/>
              </a:lnSpc>
              <a:buSzPts val="1400"/>
              <a:buFont typeface="Times New Roman" panose="02020603050405020304" pitchFamily="18" charset="0"/>
              <a:buAutoNum type="arabicPeriod"/>
              <a:tabLst>
                <a:tab pos="559435" algn="l"/>
              </a:tabLst>
            </a:pPr>
            <a:r>
              <a:rPr lang="en-US" sz="1800" spc="0" dirty="0">
                <a:effectLst/>
                <a:latin typeface="Times New Roman" panose="02020603050405020304" pitchFamily="18" charset="0"/>
                <a:ea typeface="Times New Roman" panose="02020603050405020304" pitchFamily="18" charset="0"/>
              </a:rPr>
              <a:t>"UiPath Robotic Process Automation - Second Edition" by Carl Daniel: A comprehensive guide to UiPath RPA development.</a:t>
            </a:r>
            <a:endParaRPr lang="en-IN" sz="1800" spc="0" dirty="0">
              <a:effectLst/>
              <a:latin typeface="Times New Roman" panose="02020603050405020304" pitchFamily="18" charset="0"/>
              <a:ea typeface="Times New Roman" panose="02020603050405020304" pitchFamily="18" charset="0"/>
            </a:endParaRPr>
          </a:p>
          <a:p>
            <a:pPr marL="342900" marR="1226185" lvl="0" indent="-342900">
              <a:lnSpc>
                <a:spcPct val="150000"/>
              </a:lnSpc>
              <a:buSzPts val="1400"/>
              <a:buFont typeface="Times New Roman" panose="02020603050405020304" pitchFamily="18" charset="0"/>
              <a:buAutoNum type="arabicPeriod"/>
              <a:tabLst>
                <a:tab pos="559435" algn="l"/>
              </a:tabLst>
            </a:pPr>
            <a:r>
              <a:rPr lang="en-US" sz="1800" spc="0" dirty="0">
                <a:effectLst/>
                <a:latin typeface="Times New Roman" panose="02020603050405020304" pitchFamily="18" charset="0"/>
                <a:ea typeface="Times New Roman" panose="02020603050405020304" pitchFamily="18" charset="0"/>
              </a:rPr>
              <a:t>"Robotic Process Automation - Simple Steps to Win, Insights and Opportunities for Maxing Out Success" by Gerard </a:t>
            </a:r>
            <a:r>
              <a:rPr lang="en-US" sz="1800" spc="0" dirty="0" err="1">
                <a:effectLst/>
                <a:latin typeface="Times New Roman" panose="02020603050405020304" pitchFamily="18" charset="0"/>
                <a:ea typeface="Times New Roman" panose="02020603050405020304" pitchFamily="18" charset="0"/>
              </a:rPr>
              <a:t>Blokdijk</a:t>
            </a:r>
            <a:r>
              <a:rPr lang="en-US" sz="1800" spc="0" dirty="0">
                <a:effectLst/>
                <a:latin typeface="Times New Roman" panose="02020603050405020304" pitchFamily="18" charset="0"/>
                <a:ea typeface="Times New Roman" panose="02020603050405020304" pitchFamily="18" charset="0"/>
              </a:rPr>
              <a:t>: Explores RPA implementations and strategies.</a:t>
            </a:r>
            <a:endParaRPr lang="en-IN" sz="1800" spc="0" dirty="0">
              <a:effectLst/>
              <a:latin typeface="Times New Roman" panose="02020603050405020304" pitchFamily="18" charset="0"/>
              <a:ea typeface="Times New Roman" panose="02020603050405020304" pitchFamily="18" charset="0"/>
            </a:endParaRPr>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9482</TotalTime>
  <Words>1021</Words>
  <Application>Microsoft Office PowerPoint</Application>
  <PresentationFormat>On-screen Show (4:3)</PresentationFormat>
  <Paragraphs>87</Paragraphs>
  <Slides>20</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Noto Sans Symbols</vt:lpstr>
      <vt:lpstr>Open Sans Extrabold</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vt:lpstr>
      <vt:lpstr>Process Design</vt:lpstr>
      <vt:lpstr>Implementation</vt:lpstr>
      <vt:lpstr>Implementation</vt:lpstr>
      <vt:lpstr>Testing</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Mona Elango</dc:creator>
  <cp:lastModifiedBy>Mona Elango</cp:lastModifiedBy>
  <cp:revision>1742</cp:revision>
  <dcterms:created xsi:type="dcterms:W3CDTF">2013-05-17T03:00:03Z</dcterms:created>
  <dcterms:modified xsi:type="dcterms:W3CDTF">2023-11-29T13:56:29Z</dcterms:modified>
</cp:coreProperties>
</file>